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DF16A-77EE-42E3-A564-224829F998F0}" v="50" dt="2026-10-17T05:23:25.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snapToGrid="0">
      <p:cViewPr varScale="1">
        <p:scale>
          <a:sx n="125" d="100"/>
          <a:sy n="125" d="100"/>
        </p:scale>
        <p:origin x="13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n Sheppard" userId="90c68eafe5ec1ff0" providerId="LiveId" clId="{49976BDB-5AB9-47D4-8AA3-7EC6618BD08E}"/>
    <pc:docChg chg="addSld modSld modMainMaster">
      <pc:chgData name="Ian Sheppard" userId="90c68eafe5ec1ff0" providerId="LiveId" clId="{49976BDB-5AB9-47D4-8AA3-7EC6618BD08E}" dt="2026-10-17T05:23:25.921" v="47"/>
      <pc:docMkLst>
        <pc:docMk/>
      </pc:docMkLst>
      <pc:sldChg chg="addSp delSp modSp setBg">
        <pc:chgData name="Ian Sheppard" userId="90c68eafe5ec1ff0" providerId="LiveId" clId="{49976BDB-5AB9-47D4-8AA3-7EC6618BD08E}" dt="2026-10-17T04:56:13.367" v="24"/>
        <pc:sldMkLst>
          <pc:docMk/>
          <pc:sldMk cId="1301270465" sldId="256"/>
        </pc:sldMkLst>
        <pc:spChg chg="add mod">
          <ac:chgData name="Ian Sheppard" userId="90c68eafe5ec1ff0" providerId="LiveId" clId="{49976BDB-5AB9-47D4-8AA3-7EC6618BD08E}" dt="2026-10-17T03:37:00.612" v="0" actId="767"/>
          <ac:spMkLst>
            <pc:docMk/>
            <pc:sldMk cId="1301270465" sldId="256"/>
            <ac:spMk id="10" creationId="{A3237CB3-6682-7B3D-4195-DD08198A3D45}"/>
          </ac:spMkLst>
        </pc:spChg>
        <pc:spChg chg="add del mod">
          <ac:chgData name="Ian Sheppard" userId="90c68eafe5ec1ff0" providerId="LiveId" clId="{49976BDB-5AB9-47D4-8AA3-7EC6618BD08E}" dt="2026-10-17T04:56:13.367" v="24"/>
          <ac:spMkLst>
            <pc:docMk/>
            <pc:sldMk cId="1301270465" sldId="256"/>
            <ac:spMk id="11" creationId="{E9ACD734-ED83-1F28-847F-3F446EC5499B}"/>
          </ac:spMkLst>
        </pc:spChg>
      </pc:sldChg>
      <pc:sldChg chg="modSp setBg">
        <pc:chgData name="Ian Sheppard" userId="90c68eafe5ec1ff0" providerId="LiveId" clId="{49976BDB-5AB9-47D4-8AA3-7EC6618BD08E}" dt="2026-10-17T03:49:20.973" v="6"/>
        <pc:sldMkLst>
          <pc:docMk/>
          <pc:sldMk cId="1076417587" sldId="257"/>
        </pc:sldMkLst>
        <pc:spChg chg="mod">
          <ac:chgData name="Ian Sheppard" userId="90c68eafe5ec1ff0" providerId="LiveId" clId="{49976BDB-5AB9-47D4-8AA3-7EC6618BD08E}" dt="2026-10-17T03:49:20.973" v="6"/>
          <ac:spMkLst>
            <pc:docMk/>
            <pc:sldMk cId="1076417587" sldId="257"/>
            <ac:spMk id="3" creationId="{9CEF0696-8CD2-9CF6-E880-3B6C8A50F2E4}"/>
          </ac:spMkLst>
        </pc:spChg>
      </pc:sldChg>
      <pc:sldChg chg="addSp modSp setBg">
        <pc:chgData name="Ian Sheppard" userId="90c68eafe5ec1ff0" providerId="LiveId" clId="{49976BDB-5AB9-47D4-8AA3-7EC6618BD08E}" dt="2026-10-17T04:17:18.830" v="11"/>
        <pc:sldMkLst>
          <pc:docMk/>
          <pc:sldMk cId="3095702192" sldId="258"/>
        </pc:sldMkLst>
        <pc:spChg chg="mod">
          <ac:chgData name="Ian Sheppard" userId="90c68eafe5ec1ff0" providerId="LiveId" clId="{49976BDB-5AB9-47D4-8AA3-7EC6618BD08E}" dt="2026-10-17T04:16:30.843" v="9"/>
          <ac:spMkLst>
            <pc:docMk/>
            <pc:sldMk cId="3095702192" sldId="258"/>
            <ac:spMk id="3" creationId="{7C7320E3-46F9-0727-B04A-E640F22A4368}"/>
          </ac:spMkLst>
        </pc:spChg>
        <pc:spChg chg="add mod">
          <ac:chgData name="Ian Sheppard" userId="90c68eafe5ec1ff0" providerId="LiveId" clId="{49976BDB-5AB9-47D4-8AA3-7EC6618BD08E}" dt="2026-10-17T04:17:18.830" v="11"/>
          <ac:spMkLst>
            <pc:docMk/>
            <pc:sldMk cId="3095702192" sldId="258"/>
            <ac:spMk id="4" creationId="{32F40990-C428-2632-4060-7F3274A55815}"/>
          </ac:spMkLst>
        </pc:spChg>
      </pc:sldChg>
      <pc:sldChg chg="addSp modSp add">
        <pc:chgData name="Ian Sheppard" userId="90c68eafe5ec1ff0" providerId="LiveId" clId="{49976BDB-5AB9-47D4-8AA3-7EC6618BD08E}" dt="2026-10-17T05:14:39.231" v="42"/>
        <pc:sldMkLst>
          <pc:docMk/>
          <pc:sldMk cId="3570229465" sldId="259"/>
        </pc:sldMkLst>
        <pc:spChg chg="mod">
          <ac:chgData name="Ian Sheppard" userId="90c68eafe5ec1ff0" providerId="LiveId" clId="{49976BDB-5AB9-47D4-8AA3-7EC6618BD08E}" dt="2026-10-17T05:14:39.231" v="42"/>
          <ac:spMkLst>
            <pc:docMk/>
            <pc:sldMk cId="3570229465" sldId="259"/>
            <ac:spMk id="3" creationId="{EE272C7B-E436-5073-BDEB-401033CB7A0F}"/>
          </ac:spMkLst>
        </pc:spChg>
        <pc:spChg chg="mod">
          <ac:chgData name="Ian Sheppard" userId="90c68eafe5ec1ff0" providerId="LiveId" clId="{49976BDB-5AB9-47D4-8AA3-7EC6618BD08E}" dt="2026-10-17T04:30:07.140" v="13"/>
          <ac:spMkLst>
            <pc:docMk/>
            <pc:sldMk cId="3570229465" sldId="259"/>
            <ac:spMk id="4" creationId="{147A56F7-C90D-A6D3-46F7-40BAAC048829}"/>
          </ac:spMkLst>
        </pc:spChg>
        <pc:spChg chg="add mod">
          <ac:chgData name="Ian Sheppard" userId="90c68eafe5ec1ff0" providerId="LiveId" clId="{49976BDB-5AB9-47D4-8AA3-7EC6618BD08E}" dt="2026-10-17T05:12:46.825" v="38"/>
          <ac:spMkLst>
            <pc:docMk/>
            <pc:sldMk cId="3570229465" sldId="259"/>
            <ac:spMk id="5" creationId="{35B07D91-4D22-12B8-FD33-4F5E737FFA35}"/>
          </ac:spMkLst>
        </pc:spChg>
      </pc:sldChg>
      <pc:sldChg chg="modSp add">
        <pc:chgData name="Ian Sheppard" userId="90c68eafe5ec1ff0" providerId="LiveId" clId="{49976BDB-5AB9-47D4-8AA3-7EC6618BD08E}" dt="2026-10-17T05:11:28.292" v="37"/>
        <pc:sldMkLst>
          <pc:docMk/>
          <pc:sldMk cId="2684334868" sldId="260"/>
        </pc:sldMkLst>
        <pc:spChg chg="mod">
          <ac:chgData name="Ian Sheppard" userId="90c68eafe5ec1ff0" providerId="LiveId" clId="{49976BDB-5AB9-47D4-8AA3-7EC6618BD08E}" dt="2026-10-17T05:11:28.292" v="37"/>
          <ac:spMkLst>
            <pc:docMk/>
            <pc:sldMk cId="2684334868" sldId="260"/>
            <ac:spMk id="3" creationId="{E61A3345-FD94-AA1D-12B7-2ED7BE440337}"/>
          </ac:spMkLst>
        </pc:spChg>
        <pc:spChg chg="mod">
          <ac:chgData name="Ian Sheppard" userId="90c68eafe5ec1ff0" providerId="LiveId" clId="{49976BDB-5AB9-47D4-8AA3-7EC6618BD08E}" dt="2026-10-17T05:06:10.550" v="31"/>
          <ac:spMkLst>
            <pc:docMk/>
            <pc:sldMk cId="2684334868" sldId="260"/>
            <ac:spMk id="5" creationId="{29599AB1-93C5-679B-A2A3-434044B134CF}"/>
          </ac:spMkLst>
        </pc:spChg>
      </pc:sldChg>
      <pc:sldChg chg="modSp add">
        <pc:chgData name="Ian Sheppard" userId="90c68eafe5ec1ff0" providerId="LiveId" clId="{49976BDB-5AB9-47D4-8AA3-7EC6618BD08E}" dt="2026-10-17T05:23:25.921" v="47"/>
        <pc:sldMkLst>
          <pc:docMk/>
          <pc:sldMk cId="556610516" sldId="261"/>
        </pc:sldMkLst>
        <pc:spChg chg="mod">
          <ac:chgData name="Ian Sheppard" userId="90c68eafe5ec1ff0" providerId="LiveId" clId="{49976BDB-5AB9-47D4-8AA3-7EC6618BD08E}" dt="2026-10-17T05:23:25.921" v="47"/>
          <ac:spMkLst>
            <pc:docMk/>
            <pc:sldMk cId="556610516" sldId="261"/>
            <ac:spMk id="3" creationId="{1FEFADB3-B998-A9EB-EA80-3E2E612D7144}"/>
          </ac:spMkLst>
        </pc:spChg>
      </pc:sldChg>
      <pc:sldMasterChg chg="setBg">
        <pc:chgData name="Ian Sheppard" userId="90c68eafe5ec1ff0" providerId="LiveId" clId="{49976BDB-5AB9-47D4-8AA3-7EC6618BD08E}" dt="2026-10-17T04:14:46.360" v="8"/>
        <pc:sldMasterMkLst>
          <pc:docMk/>
          <pc:sldMasterMk cId="652790636" sldId="2147483648"/>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45FC-AA97-8FE4-C118-1C8329F4B8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F4B57A-B737-413D-E806-05858CECAA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6C522B-BF12-A967-0E67-D6882F29CA13}"/>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5" name="Footer Placeholder 4">
            <a:extLst>
              <a:ext uri="{FF2B5EF4-FFF2-40B4-BE49-F238E27FC236}">
                <a16:creationId xmlns:a16="http://schemas.microsoft.com/office/drawing/2014/main" id="{B793A5AB-97E7-74FE-1A22-5C5B0F8DD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C9D179-B0A5-7DD5-B96A-52BBDA562596}"/>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2822805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97EB-FC03-EF36-E45C-1C6402A68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A5AB7A-D36C-71D2-44EA-5D452AAE2C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F83C9-565D-2D22-0A6B-9ED8B558A183}"/>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5" name="Footer Placeholder 4">
            <a:extLst>
              <a:ext uri="{FF2B5EF4-FFF2-40B4-BE49-F238E27FC236}">
                <a16:creationId xmlns:a16="http://schemas.microsoft.com/office/drawing/2014/main" id="{2FB98412-1147-848A-61B3-26E7E02B3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39CFB0-BC14-E74C-053B-AA7A6701A3C4}"/>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856433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27429-A4EA-D968-C570-BE6BDA15E3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C80696-471F-DE55-1DA8-A0F7B3B8C7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10896D-3A79-9136-F533-DA85662B0834}"/>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5" name="Footer Placeholder 4">
            <a:extLst>
              <a:ext uri="{FF2B5EF4-FFF2-40B4-BE49-F238E27FC236}">
                <a16:creationId xmlns:a16="http://schemas.microsoft.com/office/drawing/2014/main" id="{DC9406A5-CBE9-3A97-C318-9FD38474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FCA134-DE7B-2CBC-A727-AC5B768AF974}"/>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828078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6562-D08D-B2A4-B71C-DE92AC6FE3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7E8701-0CCB-4CBD-E257-4326579128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84E45-9704-98AB-3440-51D2917F87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99966C-FB12-7285-B552-A6BFE1D9C085}"/>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6" name="Footer Placeholder 5">
            <a:extLst>
              <a:ext uri="{FF2B5EF4-FFF2-40B4-BE49-F238E27FC236}">
                <a16:creationId xmlns:a16="http://schemas.microsoft.com/office/drawing/2014/main" id="{1EAB3510-09BD-9FE7-0B89-9C175EDDA4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B61A4C-90B5-47B2-1D21-8AC8B265C8F5}"/>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1398442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C52D-7314-62A7-2AB8-4A49B61820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F2E849-69C1-802B-FCFD-A5DD5C9F2A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54251B-9741-BFF2-9599-B27471A1B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232FA1-17A1-D34D-21BE-CDC0B56E3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68F19E-DFAA-6800-E507-F9528DEA24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8413EA-901B-B350-C021-245162C1EFE0}"/>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8" name="Footer Placeholder 7">
            <a:extLst>
              <a:ext uri="{FF2B5EF4-FFF2-40B4-BE49-F238E27FC236}">
                <a16:creationId xmlns:a16="http://schemas.microsoft.com/office/drawing/2014/main" id="{606DFD3F-F171-F137-313C-272DE5C454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B9C033-4CF5-929A-2307-76AB7E065D51}"/>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2206659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330D-3354-249F-785D-6E7B27D15B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8CEEF0-235F-9FB8-EE5B-8DDE45A9B6D2}"/>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4" name="Footer Placeholder 3">
            <a:extLst>
              <a:ext uri="{FF2B5EF4-FFF2-40B4-BE49-F238E27FC236}">
                <a16:creationId xmlns:a16="http://schemas.microsoft.com/office/drawing/2014/main" id="{693E4D00-1D05-FA00-6CC2-8A49A14F3F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42A192-B524-482F-8EF0-036416C1676B}"/>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2895582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BC6AD-1FE5-6623-4BC6-20E7F3822AC4}"/>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3" name="Footer Placeholder 2">
            <a:extLst>
              <a:ext uri="{FF2B5EF4-FFF2-40B4-BE49-F238E27FC236}">
                <a16:creationId xmlns:a16="http://schemas.microsoft.com/office/drawing/2014/main" id="{6F90A661-BA6C-EE3A-AE51-FD64C8A37A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14DDBE-50CE-A8C6-0F32-FEBBD62B0EA7}"/>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1675932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3315-1577-BF80-5F4F-4A6E08B544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4FFE82-FEE9-F26A-DFA9-A89B470111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F1A3E9-2112-52D1-B9CC-0834C56C6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2EAB2F-E872-40E5-0E36-C8FAC5C125A5}"/>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6" name="Footer Placeholder 5">
            <a:extLst>
              <a:ext uri="{FF2B5EF4-FFF2-40B4-BE49-F238E27FC236}">
                <a16:creationId xmlns:a16="http://schemas.microsoft.com/office/drawing/2014/main" id="{332CCA75-5463-F1E9-0B83-C1A1EB33AC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AC514C-5A7F-7819-56FD-5D10AA08E754}"/>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3117137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ED9F1-9107-226C-64F5-866B6FEBD3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884DA4-6564-1544-C4DB-71FAA0E54B7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56CF80-4BD9-5E0F-B657-05A1B7F52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E5472F-4DB8-7D58-016C-44A74F0E3697}"/>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6" name="Footer Placeholder 5">
            <a:extLst>
              <a:ext uri="{FF2B5EF4-FFF2-40B4-BE49-F238E27FC236}">
                <a16:creationId xmlns:a16="http://schemas.microsoft.com/office/drawing/2014/main" id="{EC0BC26D-5986-FEBE-4256-0F49515C60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82A60C-7F67-0147-CA62-FD80A3A67C49}"/>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133300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EC45-6C0D-4BAC-7A03-771FB32109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828026-97F2-C4BC-02D6-872A917EA3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4F8A5-DE8E-C02D-BE94-5866EB4B4669}"/>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5" name="Footer Placeholder 4">
            <a:extLst>
              <a:ext uri="{FF2B5EF4-FFF2-40B4-BE49-F238E27FC236}">
                <a16:creationId xmlns:a16="http://schemas.microsoft.com/office/drawing/2014/main" id="{AF717052-816F-B128-1041-296F38DC1F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DB492-C39E-3555-ACB1-7BFB72AF61B4}"/>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234476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DCB355-FB59-810C-00EA-C64F6C39E9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DB44CD-1F82-E9E9-E67F-C232756747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126F4-DAC7-EB3F-524E-07CC7219315D}"/>
              </a:ext>
            </a:extLst>
          </p:cNvPr>
          <p:cNvSpPr>
            <a:spLocks noGrp="1"/>
          </p:cNvSpPr>
          <p:nvPr>
            <p:ph type="dt" sz="half" idx="10"/>
          </p:nvPr>
        </p:nvSpPr>
        <p:spPr/>
        <p:txBody>
          <a:bodyPr/>
          <a:lstStyle/>
          <a:p>
            <a:fld id="{54DA1443-AF49-447C-959D-91EF8F3877E4}" type="datetimeFigureOut">
              <a:rPr lang="en-US" smtClean="0"/>
              <a:t>10/16/2026</a:t>
            </a:fld>
            <a:endParaRPr lang="en-US"/>
          </a:p>
        </p:txBody>
      </p:sp>
      <p:sp>
        <p:nvSpPr>
          <p:cNvPr id="5" name="Footer Placeholder 4">
            <a:extLst>
              <a:ext uri="{FF2B5EF4-FFF2-40B4-BE49-F238E27FC236}">
                <a16:creationId xmlns:a16="http://schemas.microsoft.com/office/drawing/2014/main" id="{14DB7175-D3A6-FD0E-D26D-E400D722B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CEB902-1628-3DFD-9A15-B9B8CF6DA53B}"/>
              </a:ext>
            </a:extLst>
          </p:cNvPr>
          <p:cNvSpPr>
            <a:spLocks noGrp="1"/>
          </p:cNvSpPr>
          <p:nvPr>
            <p:ph type="sldNum" sz="quarter" idx="12"/>
          </p:nvPr>
        </p:nvSpPr>
        <p:spPr/>
        <p:txBody>
          <a:bodyPr/>
          <a:lstStyle/>
          <a:p>
            <a:fld id="{F0EE6BD6-BD3E-45EC-8509-A2EE6CA09E70}" type="slidenum">
              <a:rPr lang="en-US" smtClean="0"/>
              <a:t>‹#›</a:t>
            </a:fld>
            <a:endParaRPr lang="en-US"/>
          </a:p>
        </p:txBody>
      </p:sp>
    </p:spTree>
    <p:extLst>
      <p:ext uri="{BB962C8B-B14F-4D97-AF65-F5344CB8AC3E}">
        <p14:creationId xmlns:p14="http://schemas.microsoft.com/office/powerpoint/2010/main" val="2239506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7577AB-705D-74B7-6859-04F021A1FD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7149C4-E1D6-0A96-B103-0ADA145357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6165AC-A716-E728-549C-0BCA843DD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DA1443-AF49-447C-959D-91EF8F3877E4}" type="datetimeFigureOut">
              <a:rPr lang="en-US" smtClean="0"/>
              <a:t>10/16/2026</a:t>
            </a:fld>
            <a:endParaRPr lang="en-US"/>
          </a:p>
        </p:txBody>
      </p:sp>
      <p:sp>
        <p:nvSpPr>
          <p:cNvPr id="5" name="Footer Placeholder 4">
            <a:extLst>
              <a:ext uri="{FF2B5EF4-FFF2-40B4-BE49-F238E27FC236}">
                <a16:creationId xmlns:a16="http://schemas.microsoft.com/office/drawing/2014/main" id="{44BE5A05-B828-E7D6-DA21-9872309A34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29BE6A-609C-3684-B36D-867542B52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EE6BD6-BD3E-45EC-8509-A2EE6CA09E70}" type="slidenum">
              <a:rPr lang="en-US" smtClean="0"/>
              <a:t>‹#›</a:t>
            </a:fld>
            <a:endParaRPr lang="en-US"/>
          </a:p>
        </p:txBody>
      </p:sp>
    </p:spTree>
    <p:extLst>
      <p:ext uri="{BB962C8B-B14F-4D97-AF65-F5344CB8AC3E}">
        <p14:creationId xmlns:p14="http://schemas.microsoft.com/office/powerpoint/2010/main" val="65279063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8485/epmj.2021.11.2.4" TargetMode="External"/><Relationship Id="rId2" Type="http://schemas.openxmlformats.org/officeDocument/2006/relationships/hyperlink" Target="https://doi.org/10.1109/ACIT62805.2024.10877239" TargetMode="External"/><Relationship Id="rId1" Type="http://schemas.openxmlformats.org/officeDocument/2006/relationships/slideLayout" Target="../slideLayouts/slideLayout2.xml"/><Relationship Id="rId5" Type="http://schemas.openxmlformats.org/officeDocument/2006/relationships/hyperlink" Target="https://doi.org/10.3390/app14010060?utm_source=chatgpt.com" TargetMode="External"/><Relationship Id="rId4" Type="http://schemas.openxmlformats.org/officeDocument/2006/relationships/hyperlink" Target="https://doi.org/10.1109/ICONSTEM60960.2024.1056859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C9044227-071D-4831-94D0-C92D4840BA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AB5A26-7259-80E7-F60C-9FF081CC62B5}"/>
              </a:ext>
            </a:extLst>
          </p:cNvPr>
          <p:cNvSpPr>
            <a:spLocks noGrp="1"/>
          </p:cNvSpPr>
          <p:nvPr>
            <p:ph type="ctrTitle"/>
          </p:nvPr>
        </p:nvSpPr>
        <p:spPr>
          <a:xfrm>
            <a:off x="4354513" y="841375"/>
            <a:ext cx="3505200" cy="3114698"/>
          </a:xfrm>
        </p:spPr>
        <p:txBody>
          <a:bodyPr>
            <a:normAutofit/>
          </a:bodyPr>
          <a:lstStyle/>
          <a:p>
            <a:r>
              <a:rPr lang="en-US" sz="5600" dirty="0">
                <a:latin typeface="Cambria" panose="02040503050406030204" pitchFamily="18" charset="0"/>
                <a:ea typeface="Cambria" panose="02040503050406030204" pitchFamily="18" charset="0"/>
              </a:rPr>
              <a:t>Agile vs. Waterfall</a:t>
            </a:r>
          </a:p>
        </p:txBody>
      </p:sp>
      <p:sp>
        <p:nvSpPr>
          <p:cNvPr id="3" name="Subtitle 2">
            <a:extLst>
              <a:ext uri="{FF2B5EF4-FFF2-40B4-BE49-F238E27FC236}">
                <a16:creationId xmlns:a16="http://schemas.microsoft.com/office/drawing/2014/main" id="{8917385E-087D-38D3-DA9F-37EA35CBD654}"/>
              </a:ext>
            </a:extLst>
          </p:cNvPr>
          <p:cNvSpPr>
            <a:spLocks noGrp="1"/>
          </p:cNvSpPr>
          <p:nvPr>
            <p:ph type="subTitle" idx="1"/>
          </p:nvPr>
        </p:nvSpPr>
        <p:spPr>
          <a:xfrm>
            <a:off x="4354513" y="4337072"/>
            <a:ext cx="3506264" cy="1671616"/>
          </a:xfrm>
        </p:spPr>
        <p:txBody>
          <a:bodyPr>
            <a:normAutofit/>
          </a:bodyPr>
          <a:lstStyle/>
          <a:p>
            <a:r>
              <a:rPr lang="en-US">
                <a:latin typeface="Cambria" panose="02040503050406030204" pitchFamily="18" charset="0"/>
                <a:ea typeface="Cambria" panose="02040503050406030204" pitchFamily="18" charset="0"/>
              </a:rPr>
              <a:t>Which approach should we use?</a:t>
            </a:r>
          </a:p>
        </p:txBody>
      </p:sp>
      <p:pic>
        <p:nvPicPr>
          <p:cNvPr id="5" name="Picture 4" descr="People playing football">
            <a:extLst>
              <a:ext uri="{FF2B5EF4-FFF2-40B4-BE49-F238E27FC236}">
                <a16:creationId xmlns:a16="http://schemas.microsoft.com/office/drawing/2014/main" id="{CD170673-AD06-8ED4-FD59-91F27883DD09}"/>
              </a:ext>
            </a:extLst>
          </p:cNvPr>
          <p:cNvPicPr>
            <a:picLocks noChangeAspect="1"/>
          </p:cNvPicPr>
          <p:nvPr/>
        </p:nvPicPr>
        <p:blipFill>
          <a:blip r:embed="rId2">
            <a:extLst>
              <a:ext uri="{28A0092B-C50C-407E-A947-70E740481C1C}">
                <a14:useLocalDpi xmlns:a14="http://schemas.microsoft.com/office/drawing/2010/main" val="0"/>
              </a:ext>
            </a:extLst>
          </a:blip>
          <a:srcRect l="6641" r="16580"/>
          <a:stretch>
            <a:fillRect/>
          </a:stretch>
        </p:blipFill>
        <p:spPr>
          <a:xfrm>
            <a:off x="20" y="2"/>
            <a:ext cx="3834650" cy="3333747"/>
          </a:xfrm>
          <a:custGeom>
            <a:avLst/>
            <a:gdLst/>
            <a:ahLst/>
            <a:cxnLst/>
            <a:rect l="l" t="t" r="r" b="b"/>
            <a:pathLst>
              <a:path w="3834670" h="3333747">
                <a:moveTo>
                  <a:pt x="0" y="0"/>
                </a:moveTo>
                <a:lnTo>
                  <a:pt x="3066495" y="0"/>
                </a:lnTo>
                <a:lnTo>
                  <a:pt x="3427241" y="1211943"/>
                </a:lnTo>
                <a:lnTo>
                  <a:pt x="3834670" y="3333747"/>
                </a:lnTo>
                <a:lnTo>
                  <a:pt x="0" y="3333747"/>
                </a:lnTo>
                <a:close/>
              </a:path>
            </a:pathLst>
          </a:custGeom>
        </p:spPr>
      </p:pic>
      <p:pic>
        <p:nvPicPr>
          <p:cNvPr id="7" name="Picture 6" descr="Person on large rock looking at waterfall">
            <a:extLst>
              <a:ext uri="{FF2B5EF4-FFF2-40B4-BE49-F238E27FC236}">
                <a16:creationId xmlns:a16="http://schemas.microsoft.com/office/drawing/2014/main" id="{2BC7D4D6-74ED-B19B-C599-B6F9787E188F}"/>
              </a:ext>
            </a:extLst>
          </p:cNvPr>
          <p:cNvPicPr>
            <a:picLocks noChangeAspect="1"/>
          </p:cNvPicPr>
          <p:nvPr/>
        </p:nvPicPr>
        <p:blipFill>
          <a:blip r:embed="rId3">
            <a:extLst>
              <a:ext uri="{28A0092B-C50C-407E-A947-70E740481C1C}">
                <a14:useLocalDpi xmlns:a14="http://schemas.microsoft.com/office/drawing/2010/main" val="0"/>
              </a:ext>
            </a:extLst>
          </a:blip>
          <a:srcRect l="19267" r="-2" b="-2"/>
          <a:stretch>
            <a:fillRect/>
          </a:stretch>
        </p:blipFill>
        <p:spPr>
          <a:xfrm>
            <a:off x="1" y="3562350"/>
            <a:ext cx="3986041" cy="3295650"/>
          </a:xfrm>
          <a:custGeom>
            <a:avLst/>
            <a:gdLst/>
            <a:ahLst/>
            <a:cxnLst/>
            <a:rect l="l" t="t" r="r" b="b"/>
            <a:pathLst>
              <a:path w="3986041" h="3295650">
                <a:moveTo>
                  <a:pt x="3878566" y="0"/>
                </a:moveTo>
                <a:lnTo>
                  <a:pt x="3986041" y="559707"/>
                </a:lnTo>
                <a:lnTo>
                  <a:pt x="3751724" y="3295650"/>
                </a:lnTo>
                <a:lnTo>
                  <a:pt x="0" y="3295650"/>
                </a:lnTo>
                <a:lnTo>
                  <a:pt x="0" y="1"/>
                </a:lnTo>
                <a:close/>
              </a:path>
            </a:pathLst>
          </a:custGeom>
        </p:spPr>
      </p:pic>
      <p:grpSp>
        <p:nvGrpSpPr>
          <p:cNvPr id="46" name="Group 45">
            <a:extLst>
              <a:ext uri="{FF2B5EF4-FFF2-40B4-BE49-F238E27FC236}">
                <a16:creationId xmlns:a16="http://schemas.microsoft.com/office/drawing/2014/main" id="{C27F758D-B23C-459E-AD21-6621782C72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8588" y="0"/>
            <a:ext cx="1339053" cy="6858000"/>
            <a:chOff x="2748588" y="0"/>
            <a:chExt cx="1339053" cy="6858000"/>
          </a:xfrm>
          <a:effectLst>
            <a:outerShdw blurRad="381000" dist="152400" algn="ctr" rotWithShape="0">
              <a:srgbClr val="000000">
                <a:alpha val="10000"/>
              </a:srgbClr>
            </a:outerShdw>
          </a:effectLst>
        </p:grpSpPr>
        <p:sp>
          <p:nvSpPr>
            <p:cNvPr id="30" name="Freeform: Shape 29">
              <a:extLst>
                <a:ext uri="{FF2B5EF4-FFF2-40B4-BE49-F238E27FC236}">
                  <a16:creationId xmlns:a16="http://schemas.microsoft.com/office/drawing/2014/main" id="{08DD5D69-A882-48D7-ACFB-68E2DC6B0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A2432BD6-3DCC-4397-BD7F-3FE84F321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9" name="Picture 8" descr="Young businessman thinking">
            <a:extLst>
              <a:ext uri="{FF2B5EF4-FFF2-40B4-BE49-F238E27FC236}">
                <a16:creationId xmlns:a16="http://schemas.microsoft.com/office/drawing/2014/main" id="{AB2254A2-369A-1C1C-3581-091B5F0B5AC5}"/>
              </a:ext>
            </a:extLst>
          </p:cNvPr>
          <p:cNvPicPr>
            <a:picLocks noChangeAspect="1"/>
          </p:cNvPicPr>
          <p:nvPr/>
        </p:nvPicPr>
        <p:blipFill>
          <a:blip r:embed="rId5">
            <a:extLst>
              <a:ext uri="{28A0092B-C50C-407E-A947-70E740481C1C}">
                <a14:useLocalDpi xmlns:a14="http://schemas.microsoft.com/office/drawing/2010/main" val="0"/>
              </a:ext>
            </a:extLst>
          </a:blip>
          <a:srcRect r="-1" b="23210"/>
          <a:stretch>
            <a:fillRect/>
          </a:stretch>
        </p:blipFill>
        <p:spPr>
          <a:xfrm>
            <a:off x="8240079" y="-1"/>
            <a:ext cx="3951921" cy="6858000"/>
          </a:xfrm>
          <a:custGeom>
            <a:avLst/>
            <a:gdLst/>
            <a:ahLst/>
            <a:cxnLst/>
            <a:rect l="l" t="t" r="r" b="b"/>
            <a:pathLst>
              <a:path w="3951921" h="6858000">
                <a:moveTo>
                  <a:pt x="224707" y="0"/>
                </a:moveTo>
                <a:lnTo>
                  <a:pt x="3951921" y="0"/>
                </a:lnTo>
                <a:lnTo>
                  <a:pt x="3951921" y="6858000"/>
                </a:lnTo>
                <a:lnTo>
                  <a:pt x="886146" y="6858000"/>
                </a:lnTo>
                <a:lnTo>
                  <a:pt x="558800" y="5721062"/>
                </a:lnTo>
                <a:lnTo>
                  <a:pt x="0" y="2712496"/>
                </a:lnTo>
                <a:close/>
              </a:path>
            </a:pathLst>
          </a:custGeom>
        </p:spPr>
      </p:pic>
      <p:grpSp>
        <p:nvGrpSpPr>
          <p:cNvPr id="48" name="Group 47">
            <a:extLst>
              <a:ext uri="{FF2B5EF4-FFF2-40B4-BE49-F238E27FC236}">
                <a16:creationId xmlns:a16="http://schemas.microsoft.com/office/drawing/2014/main" id="{57B65906-47BE-4CEA-9E50-301890FFE4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04360" y="0"/>
            <a:ext cx="1339053" cy="6858000"/>
            <a:chOff x="2748588" y="0"/>
            <a:chExt cx="1339053" cy="6858000"/>
          </a:xfrm>
          <a:effectLst>
            <a:outerShdw blurRad="381000" dist="152400" dir="10800000" algn="ctr" rotWithShape="0">
              <a:srgbClr val="000000">
                <a:alpha val="10000"/>
              </a:srgbClr>
            </a:outerShdw>
          </a:effectLst>
        </p:grpSpPr>
        <p:sp>
          <p:nvSpPr>
            <p:cNvPr id="34" name="Freeform: Shape 33">
              <a:extLst>
                <a:ext uri="{FF2B5EF4-FFF2-40B4-BE49-F238E27FC236}">
                  <a16:creationId xmlns:a16="http://schemas.microsoft.com/office/drawing/2014/main" id="{E9C1A977-5AC1-49DC-B315-CAB53CF6F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AEEAD2A-AA94-4108-8639-95E861AED1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TextBox 9">
            <a:extLst>
              <a:ext uri="{FF2B5EF4-FFF2-40B4-BE49-F238E27FC236}">
                <a16:creationId xmlns:a16="http://schemas.microsoft.com/office/drawing/2014/main" id="{A3237CB3-6682-7B3D-4195-DD08198A3D45}"/>
              </a:ext>
            </a:extLst>
          </p:cNvPr>
          <p:cNvSpPr txBox="1"/>
          <p:nvPr/>
        </p:nvSpPr>
        <p:spPr>
          <a:xfrm>
            <a:off x="4800679" y="6569612"/>
            <a:ext cx="2612868" cy="288387"/>
          </a:xfrm>
          <a:prstGeom prst="rect">
            <a:avLst/>
          </a:prstGeom>
          <a:solidFill>
            <a:schemeClr val="bg1">
              <a:lumMod val="65000"/>
              <a:lumOff val="35000"/>
              <a:alpha val="50000"/>
            </a:schemeClr>
          </a:solidFill>
          <a:ln>
            <a:noFill/>
          </a:ln>
        </p:spPr>
        <p:txBody>
          <a:bodyPr wrap="square" rtlCol="0">
            <a:noAutofit/>
          </a:bodyPr>
          <a:lstStyle/>
          <a:p>
            <a:pPr algn="ctr">
              <a:spcAft>
                <a:spcPts val="600"/>
              </a:spcAft>
            </a:pPr>
            <a:r>
              <a:rPr lang="en-US" sz="1300">
                <a:solidFill>
                  <a:srgbClr val="FFFFFF"/>
                </a:solidFill>
              </a:rPr>
              <a:t>Ian Sheppard – CS250</a:t>
            </a:r>
          </a:p>
        </p:txBody>
      </p:sp>
    </p:spTree>
    <p:extLst>
      <p:ext uri="{BB962C8B-B14F-4D97-AF65-F5344CB8AC3E}">
        <p14:creationId xmlns:p14="http://schemas.microsoft.com/office/powerpoint/2010/main" val="130127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472DFB-7C92-07D1-00DC-9B400FF1248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Scrum - Agile Roles</a:t>
            </a:r>
          </a:p>
        </p:txBody>
      </p:sp>
      <p:sp>
        <p:nvSpPr>
          <p:cNvPr id="3" name="Content Placeholder 2">
            <a:extLst>
              <a:ext uri="{FF2B5EF4-FFF2-40B4-BE49-F238E27FC236}">
                <a16:creationId xmlns:a16="http://schemas.microsoft.com/office/drawing/2014/main" id="{9CEF0696-8CD2-9CF6-E880-3B6C8A50F2E4}"/>
              </a:ext>
            </a:extLst>
          </p:cNvPr>
          <p:cNvSpPr>
            <a:spLocks noGrp="1"/>
          </p:cNvSpPr>
          <p:nvPr>
            <p:ph idx="1"/>
          </p:nvPr>
        </p:nvSpPr>
        <p:spPr>
          <a:xfrm>
            <a:off x="4810259" y="649480"/>
            <a:ext cx="6555347" cy="5546047"/>
          </a:xfrm>
        </p:spPr>
        <p:txBody>
          <a:bodyPr anchor="ctr">
            <a:normAutofit lnSpcReduction="10000"/>
          </a:bodyPr>
          <a:lstStyle/>
          <a:p>
            <a:r>
              <a:rPr lang="en-US" sz="2000" dirty="0"/>
              <a:t>Product Owner – Determines what the customer needs, prioritizes the work, and makes sure the team understands the requirements.</a:t>
            </a:r>
          </a:p>
          <a:p>
            <a:pPr marL="0" indent="0">
              <a:buNone/>
            </a:pPr>
            <a:endParaRPr lang="en-US" sz="2000" dirty="0"/>
          </a:p>
          <a:p>
            <a:r>
              <a:rPr lang="en-US" sz="2000" dirty="0"/>
              <a:t>Scrum Master – Keeps the team on track, helps remove obstacles, and makes sure Scrum practices are being followed.</a:t>
            </a:r>
          </a:p>
          <a:p>
            <a:pPr marL="0" indent="0">
              <a:buNone/>
            </a:pPr>
            <a:endParaRPr lang="en-US" sz="2000" dirty="0"/>
          </a:p>
          <a:p>
            <a:r>
              <a:rPr lang="en-US" sz="2000" dirty="0"/>
              <a:t>Developer – Builds the software based on the requirements and works with the team to make sure features function as intended.</a:t>
            </a:r>
          </a:p>
          <a:p>
            <a:pPr marL="0" indent="0">
              <a:buNone/>
            </a:pPr>
            <a:endParaRPr lang="en-US" sz="2000" dirty="0"/>
          </a:p>
          <a:p>
            <a:r>
              <a:rPr lang="en-US" sz="2000" dirty="0"/>
              <a:t>Tester - Checks that the software works as expected, identifies defects, and makes sure features meet their acceptance criteria.</a:t>
            </a:r>
          </a:p>
          <a:p>
            <a:pPr marL="0" indent="0">
              <a:buNone/>
            </a:pPr>
            <a:endParaRPr lang="en-US" sz="2000" dirty="0"/>
          </a:p>
          <a:p>
            <a:pPr marL="0" indent="0" algn="r">
              <a:buNone/>
            </a:pPr>
            <a:r>
              <a:rPr lang="en-US" sz="1200" dirty="0"/>
              <a:t>(</a:t>
            </a:r>
            <a:r>
              <a:rPr lang="en-US" sz="1200" dirty="0" err="1"/>
              <a:t>Grebić</a:t>
            </a:r>
            <a:r>
              <a:rPr lang="en-US" sz="1200" dirty="0"/>
              <a:t> &amp; Stojanović, 2021)</a:t>
            </a:r>
          </a:p>
        </p:txBody>
      </p:sp>
    </p:spTree>
    <p:extLst>
      <p:ext uri="{BB962C8B-B14F-4D97-AF65-F5344CB8AC3E}">
        <p14:creationId xmlns:p14="http://schemas.microsoft.com/office/powerpoint/2010/main" val="1076417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2D4CEC-438B-7715-7D3A-93478C05A1C5}"/>
              </a:ext>
            </a:extLst>
          </p:cNvPr>
          <p:cNvSpPr>
            <a:spLocks noGrp="1"/>
          </p:cNvSpPr>
          <p:nvPr>
            <p:ph type="title"/>
          </p:nvPr>
        </p:nvSpPr>
        <p:spPr>
          <a:xfrm>
            <a:off x="418225" y="968518"/>
            <a:ext cx="3201366" cy="3387497"/>
          </a:xfrm>
        </p:spPr>
        <p:txBody>
          <a:bodyPr anchor="b">
            <a:normAutofit/>
          </a:bodyPr>
          <a:lstStyle/>
          <a:p>
            <a:pPr algn="r"/>
            <a:r>
              <a:rPr lang="en-US" sz="4000" dirty="0">
                <a:solidFill>
                  <a:srgbClr val="FFFFFF"/>
                </a:solidFill>
              </a:rPr>
              <a:t>Agile</a:t>
            </a:r>
            <a:br>
              <a:rPr lang="en-US" sz="4000" dirty="0">
                <a:solidFill>
                  <a:srgbClr val="FFFFFF"/>
                </a:solidFill>
              </a:rPr>
            </a:br>
            <a:r>
              <a:rPr lang="en-US" sz="4000" dirty="0">
                <a:solidFill>
                  <a:srgbClr val="FFFFFF"/>
                </a:solidFill>
              </a:rPr>
              <a:t>Software Development Lifecycle Phases</a:t>
            </a:r>
          </a:p>
        </p:txBody>
      </p:sp>
      <p:sp>
        <p:nvSpPr>
          <p:cNvPr id="3" name="Content Placeholder 2">
            <a:extLst>
              <a:ext uri="{FF2B5EF4-FFF2-40B4-BE49-F238E27FC236}">
                <a16:creationId xmlns:a16="http://schemas.microsoft.com/office/drawing/2014/main" id="{7C7320E3-46F9-0727-B04A-E640F22A4368}"/>
              </a:ext>
            </a:extLst>
          </p:cNvPr>
          <p:cNvSpPr>
            <a:spLocks noGrp="1"/>
          </p:cNvSpPr>
          <p:nvPr>
            <p:ph idx="1"/>
          </p:nvPr>
        </p:nvSpPr>
        <p:spPr>
          <a:xfrm>
            <a:off x="4838763" y="1251571"/>
            <a:ext cx="6555347" cy="5546047"/>
          </a:xfrm>
        </p:spPr>
        <p:txBody>
          <a:bodyPr anchor="ctr">
            <a:normAutofit fontScale="92500" lnSpcReduction="10000"/>
          </a:bodyPr>
          <a:lstStyle/>
          <a:p>
            <a:r>
              <a:rPr lang="en-US" sz="1700" dirty="0"/>
              <a:t>Requirements Analysis – Figures out what the customer wants and what the software needs to do.</a:t>
            </a:r>
          </a:p>
          <a:p>
            <a:endParaRPr lang="en-US" sz="1700" dirty="0"/>
          </a:p>
          <a:p>
            <a:r>
              <a:rPr lang="en-US" sz="1700" dirty="0"/>
              <a:t>Design – Plans how the software will work and how the different parts will fit together.</a:t>
            </a:r>
          </a:p>
          <a:p>
            <a:endParaRPr lang="en-US" sz="1700" dirty="0"/>
          </a:p>
          <a:p>
            <a:r>
              <a:rPr lang="en-US" sz="1700" dirty="0"/>
              <a:t>Coding – Developers write the code to turn those plans into working software.</a:t>
            </a:r>
          </a:p>
          <a:p>
            <a:endParaRPr lang="en-US" sz="1700" dirty="0"/>
          </a:p>
          <a:p>
            <a:r>
              <a:rPr lang="en-US" sz="1700" dirty="0"/>
              <a:t>Testing – Makes sure everything works the way it’s supposed to and catches defects that need fixing.</a:t>
            </a:r>
          </a:p>
          <a:p>
            <a:endParaRPr lang="en-US" sz="1700" dirty="0"/>
          </a:p>
          <a:p>
            <a:r>
              <a:rPr lang="en-US" sz="1700" dirty="0"/>
              <a:t>Deployment – Gets the finished software into the hands of the customer.</a:t>
            </a:r>
          </a:p>
          <a:p>
            <a:endParaRPr lang="en-US" sz="1700" dirty="0"/>
          </a:p>
          <a:p>
            <a:r>
              <a:rPr lang="en-US" sz="1700" dirty="0"/>
              <a:t>Maintenance – Fixes problems and makes changes or improvements after release.</a:t>
            </a:r>
          </a:p>
          <a:p>
            <a:endParaRPr lang="en-US" sz="1700" dirty="0"/>
          </a:p>
          <a:p>
            <a:pPr marL="0" indent="0" algn="r">
              <a:buNone/>
            </a:pPr>
            <a:r>
              <a:rPr lang="en-US" sz="1300" dirty="0"/>
              <a:t>(Krishna &amp; Gopinath, 2024)</a:t>
            </a:r>
          </a:p>
        </p:txBody>
      </p:sp>
      <p:sp>
        <p:nvSpPr>
          <p:cNvPr id="4" name="TextBox 3">
            <a:extLst>
              <a:ext uri="{FF2B5EF4-FFF2-40B4-BE49-F238E27FC236}">
                <a16:creationId xmlns:a16="http://schemas.microsoft.com/office/drawing/2014/main" id="{32F40990-C428-2632-4060-7F3274A55815}"/>
              </a:ext>
            </a:extLst>
          </p:cNvPr>
          <p:cNvSpPr txBox="1"/>
          <p:nvPr/>
        </p:nvSpPr>
        <p:spPr>
          <a:xfrm>
            <a:off x="4040875" y="370330"/>
            <a:ext cx="8151125" cy="523220"/>
          </a:xfrm>
          <a:prstGeom prst="rect">
            <a:avLst/>
          </a:prstGeom>
          <a:noFill/>
        </p:spPr>
        <p:txBody>
          <a:bodyPr wrap="square" rtlCol="0">
            <a:spAutoFit/>
          </a:bodyPr>
          <a:lstStyle/>
          <a:p>
            <a:pPr algn="ctr"/>
            <a:r>
              <a:rPr lang="en-US" sz="1400" dirty="0"/>
              <a:t>Agile teams work through these phases multiple times throughout development instead of just once. This makes it easier to adjust to changing requirements and improve the software along the way.</a:t>
            </a:r>
          </a:p>
        </p:txBody>
      </p:sp>
    </p:spTree>
    <p:extLst>
      <p:ext uri="{BB962C8B-B14F-4D97-AF65-F5344CB8AC3E}">
        <p14:creationId xmlns:p14="http://schemas.microsoft.com/office/powerpoint/2010/main" val="3095702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0A1B-1742-A589-5ACD-6CD0E0CE4A4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7112863-A3D0-4A90-6BC4-9C77B605D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9282E96-04EC-CBC6-F21B-834D6F84E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795C438-68BF-9F35-BD2E-D850894AD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50BC701-5945-22A6-AC3B-51F750483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FAAD77-CA45-DBDF-0E7A-D8A6FFD80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06CF347D-A727-0284-7DBD-66EC24E29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3DE3FBD-E013-567A-6A55-31D21C302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99F7AD-23AB-76F6-4527-83A0F76551C4}"/>
              </a:ext>
            </a:extLst>
          </p:cNvPr>
          <p:cNvSpPr>
            <a:spLocks noGrp="1"/>
          </p:cNvSpPr>
          <p:nvPr>
            <p:ph type="title"/>
          </p:nvPr>
        </p:nvSpPr>
        <p:spPr>
          <a:xfrm>
            <a:off x="418225" y="968518"/>
            <a:ext cx="3201366" cy="3387497"/>
          </a:xfrm>
        </p:spPr>
        <p:txBody>
          <a:bodyPr anchor="b">
            <a:normAutofit/>
          </a:bodyPr>
          <a:lstStyle/>
          <a:p>
            <a:pPr algn="r"/>
            <a:r>
              <a:rPr lang="en-US" sz="4000" dirty="0">
                <a:solidFill>
                  <a:srgbClr val="FFFFFF"/>
                </a:solidFill>
              </a:rPr>
              <a:t>Waterfall</a:t>
            </a:r>
            <a:br>
              <a:rPr lang="en-US" sz="4000" dirty="0">
                <a:solidFill>
                  <a:srgbClr val="FFFFFF"/>
                </a:solidFill>
              </a:rPr>
            </a:br>
            <a:r>
              <a:rPr lang="en-US" sz="4000" dirty="0">
                <a:solidFill>
                  <a:srgbClr val="FFFFFF"/>
                </a:solidFill>
              </a:rPr>
              <a:t>Model</a:t>
            </a:r>
          </a:p>
        </p:txBody>
      </p:sp>
      <p:sp>
        <p:nvSpPr>
          <p:cNvPr id="3" name="Content Placeholder 2">
            <a:extLst>
              <a:ext uri="{FF2B5EF4-FFF2-40B4-BE49-F238E27FC236}">
                <a16:creationId xmlns:a16="http://schemas.microsoft.com/office/drawing/2014/main" id="{EE272C7B-E436-5073-BDEB-401033CB7A0F}"/>
              </a:ext>
            </a:extLst>
          </p:cNvPr>
          <p:cNvSpPr>
            <a:spLocks noGrp="1"/>
          </p:cNvSpPr>
          <p:nvPr>
            <p:ph idx="1"/>
          </p:nvPr>
        </p:nvSpPr>
        <p:spPr>
          <a:xfrm>
            <a:off x="4876494" y="1117298"/>
            <a:ext cx="6555347" cy="5546047"/>
          </a:xfrm>
        </p:spPr>
        <p:txBody>
          <a:bodyPr anchor="ctr">
            <a:normAutofit fontScale="92500" lnSpcReduction="10000"/>
          </a:bodyPr>
          <a:lstStyle/>
          <a:p>
            <a:r>
              <a:rPr lang="en-US" sz="1700" dirty="0"/>
              <a:t>Planning – We need to have a pretty good idea of what the customer wants before development begins.</a:t>
            </a:r>
          </a:p>
          <a:p>
            <a:pPr marL="0" indent="0">
              <a:buNone/>
            </a:pPr>
            <a:endParaRPr lang="en-US" sz="1700" dirty="0"/>
          </a:p>
          <a:p>
            <a:r>
              <a:rPr lang="en-US" sz="1700" dirty="0"/>
              <a:t>Sequential Development – </a:t>
            </a:r>
            <a:r>
              <a:rPr lang="en-US" sz="1800" dirty="0"/>
              <a:t>The team works through each phase in order, generally finishing one before moving on to the next.</a:t>
            </a:r>
          </a:p>
          <a:p>
            <a:pPr marL="0" indent="0">
              <a:buNone/>
            </a:pPr>
            <a:endParaRPr lang="en-US" sz="1700" dirty="0"/>
          </a:p>
          <a:p>
            <a:r>
              <a:rPr lang="en-US" sz="1700" dirty="0"/>
              <a:t>Advantages – </a:t>
            </a:r>
            <a:r>
              <a:rPr lang="en-US" sz="1800" dirty="0"/>
              <a:t>When requirements aren't expected to change, having everything planned out can make it easier to manage the project and keep track of progress.</a:t>
            </a:r>
          </a:p>
          <a:p>
            <a:pPr marL="0" indent="0">
              <a:buNone/>
            </a:pPr>
            <a:endParaRPr lang="en-US" sz="1700" dirty="0"/>
          </a:p>
          <a:p>
            <a:r>
              <a:rPr lang="en-US" sz="1700" dirty="0"/>
              <a:t>Disadvantages – </a:t>
            </a:r>
            <a:r>
              <a:rPr lang="en-US" sz="1800" dirty="0"/>
              <a:t>If requirements change later in development, the team might have to go back and redo work they've already completed, costing extra time and resources.</a:t>
            </a:r>
          </a:p>
          <a:p>
            <a:pPr marL="0" indent="0">
              <a:buNone/>
            </a:pPr>
            <a:endParaRPr lang="en-US" sz="1700" dirty="0"/>
          </a:p>
          <a:p>
            <a:r>
              <a:rPr lang="en-US" sz="1700" dirty="0"/>
              <a:t>SNHU Travel Example – </a:t>
            </a:r>
            <a:r>
              <a:rPr lang="en-US" sz="1800" dirty="0"/>
              <a:t>When the customer changed direction toward wellness travel, we would've had to revisit the original requirements and potentially redo some of the work we'd already finished.</a:t>
            </a:r>
          </a:p>
          <a:p>
            <a:endParaRPr lang="en-US" sz="1700" dirty="0"/>
          </a:p>
          <a:p>
            <a:pPr marL="0" indent="0" algn="r">
              <a:buNone/>
            </a:pPr>
            <a:r>
              <a:rPr lang="en-US" sz="1400" dirty="0"/>
              <a:t>(</a:t>
            </a:r>
            <a:r>
              <a:rPr lang="en-US" sz="1400" dirty="0" err="1"/>
              <a:t>Saravanos</a:t>
            </a:r>
            <a:r>
              <a:rPr lang="en-US" sz="1400" dirty="0"/>
              <a:t> &amp; Curinga, 2024)</a:t>
            </a:r>
            <a:endParaRPr lang="en-US" sz="1300" dirty="0"/>
          </a:p>
        </p:txBody>
      </p:sp>
      <p:sp>
        <p:nvSpPr>
          <p:cNvPr id="5" name="TextBox 4">
            <a:extLst>
              <a:ext uri="{FF2B5EF4-FFF2-40B4-BE49-F238E27FC236}">
                <a16:creationId xmlns:a16="http://schemas.microsoft.com/office/drawing/2014/main" id="{35B07D91-4D22-12B8-FD33-4F5E737FFA35}"/>
              </a:ext>
            </a:extLst>
          </p:cNvPr>
          <p:cNvSpPr txBox="1"/>
          <p:nvPr/>
        </p:nvSpPr>
        <p:spPr>
          <a:xfrm>
            <a:off x="4040864" y="445298"/>
            <a:ext cx="8151136" cy="523220"/>
          </a:xfrm>
          <a:prstGeom prst="rect">
            <a:avLst/>
          </a:prstGeom>
          <a:noFill/>
        </p:spPr>
        <p:txBody>
          <a:bodyPr wrap="square" rtlCol="0">
            <a:spAutoFit/>
          </a:bodyPr>
          <a:lstStyle/>
          <a:p>
            <a:pPr algn="ctr"/>
            <a:r>
              <a:rPr lang="en-US" sz="1400" dirty="0"/>
              <a:t>While Agile allows teams to adjust as development progresses, Waterfall puts more emphasis on planning everything out ahead of time.</a:t>
            </a:r>
          </a:p>
        </p:txBody>
      </p:sp>
    </p:spTree>
    <p:extLst>
      <p:ext uri="{BB962C8B-B14F-4D97-AF65-F5344CB8AC3E}">
        <p14:creationId xmlns:p14="http://schemas.microsoft.com/office/powerpoint/2010/main" val="357022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ADA1-77B8-C1E6-2A86-22173A5AD2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76D6DC-052E-E4EA-CC5B-BE044657A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C46DA43-3B58-1E3B-AA7E-BF780E92D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AF28403-95C4-16F1-5C72-85AA2C820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D2BEF38-1ECC-D114-16CC-1A874672DF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B92852A-275C-CBEB-4CA0-7E517806C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A7DDEBD3-3054-4F82-F0FD-16E1D6A6E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CAF30700-7E16-D326-691C-D63EC99A7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5836C3-DDBD-7C93-949C-75B0264CB345}"/>
              </a:ext>
            </a:extLst>
          </p:cNvPr>
          <p:cNvSpPr>
            <a:spLocks noGrp="1"/>
          </p:cNvSpPr>
          <p:nvPr>
            <p:ph type="title"/>
          </p:nvPr>
        </p:nvSpPr>
        <p:spPr>
          <a:xfrm>
            <a:off x="418225" y="968518"/>
            <a:ext cx="3201366" cy="3387497"/>
          </a:xfrm>
        </p:spPr>
        <p:txBody>
          <a:bodyPr anchor="b">
            <a:normAutofit/>
          </a:bodyPr>
          <a:lstStyle/>
          <a:p>
            <a:pPr algn="r"/>
            <a:r>
              <a:rPr lang="en-US" sz="4000" dirty="0">
                <a:solidFill>
                  <a:srgbClr val="FFFFFF"/>
                </a:solidFill>
              </a:rPr>
              <a:t>Waterfall</a:t>
            </a:r>
            <a:br>
              <a:rPr lang="en-US" sz="4000" dirty="0">
                <a:solidFill>
                  <a:srgbClr val="FFFFFF"/>
                </a:solidFill>
              </a:rPr>
            </a:br>
            <a:r>
              <a:rPr lang="en-US" sz="4000" dirty="0">
                <a:solidFill>
                  <a:srgbClr val="FFFFFF"/>
                </a:solidFill>
              </a:rPr>
              <a:t>or Agile</a:t>
            </a:r>
            <a:br>
              <a:rPr lang="en-US" sz="4000" dirty="0">
                <a:solidFill>
                  <a:srgbClr val="FFFFFF"/>
                </a:solidFill>
              </a:rPr>
            </a:br>
            <a:r>
              <a:rPr lang="en-US" sz="4000" dirty="0">
                <a:solidFill>
                  <a:srgbClr val="FFFFFF"/>
                </a:solidFill>
              </a:rPr>
              <a:t>Approach</a:t>
            </a:r>
          </a:p>
        </p:txBody>
      </p:sp>
      <p:sp>
        <p:nvSpPr>
          <p:cNvPr id="3" name="Content Placeholder 2">
            <a:extLst>
              <a:ext uri="{FF2B5EF4-FFF2-40B4-BE49-F238E27FC236}">
                <a16:creationId xmlns:a16="http://schemas.microsoft.com/office/drawing/2014/main" id="{E61A3345-FD94-AA1D-12B7-2ED7BE440337}"/>
              </a:ext>
            </a:extLst>
          </p:cNvPr>
          <p:cNvSpPr>
            <a:spLocks noGrp="1"/>
          </p:cNvSpPr>
          <p:nvPr>
            <p:ph idx="1"/>
          </p:nvPr>
        </p:nvSpPr>
        <p:spPr>
          <a:xfrm>
            <a:off x="4876494" y="1215772"/>
            <a:ext cx="6555347" cy="5546047"/>
          </a:xfrm>
        </p:spPr>
        <p:txBody>
          <a:bodyPr anchor="ctr">
            <a:normAutofit fontScale="85000" lnSpcReduction="20000"/>
          </a:bodyPr>
          <a:lstStyle/>
          <a:p>
            <a:r>
              <a:rPr lang="en-US" sz="1700" dirty="0"/>
              <a:t>Requirements - </a:t>
            </a:r>
            <a:r>
              <a:rPr lang="en-US" sz="1800" dirty="0"/>
              <a:t>If we know exactly what the customer wants from the beginning, Waterfall could work well. If we're expecting changes, Agile would give us more flexibility.</a:t>
            </a:r>
          </a:p>
          <a:p>
            <a:pPr marL="0" indent="0">
              <a:buNone/>
            </a:pPr>
            <a:endParaRPr lang="en-US" sz="1700" dirty="0"/>
          </a:p>
          <a:p>
            <a:r>
              <a:rPr lang="en-US" sz="1700" dirty="0"/>
              <a:t>Customer/Client Involvement – </a:t>
            </a:r>
            <a:r>
              <a:rPr lang="en-US" sz="1800" dirty="0"/>
              <a:t>With Agile, the customer can provide feedback as features are developed instead of waiting until later in the project.</a:t>
            </a:r>
            <a:endParaRPr lang="en-US" sz="1700" dirty="0"/>
          </a:p>
          <a:p>
            <a:pPr marL="0" indent="0">
              <a:buNone/>
            </a:pPr>
            <a:endParaRPr lang="en-US" sz="1700" dirty="0"/>
          </a:p>
          <a:p>
            <a:r>
              <a:rPr lang="en-US" sz="1700" dirty="0"/>
              <a:t>Testing – </a:t>
            </a:r>
            <a:r>
              <a:rPr lang="en-US" sz="1800" dirty="0"/>
              <a:t>Agile allows us to test features as they're developed, rather than waiting until development is finished to start testing.</a:t>
            </a:r>
          </a:p>
          <a:p>
            <a:pPr marL="0" indent="0">
              <a:buNone/>
            </a:pPr>
            <a:endParaRPr lang="en-US" sz="1700" dirty="0"/>
          </a:p>
          <a:p>
            <a:r>
              <a:rPr lang="en-US" sz="1700" dirty="0"/>
              <a:t>Making Changes – </a:t>
            </a:r>
            <a:r>
              <a:rPr lang="en-US" sz="1800" dirty="0"/>
              <a:t>With Waterfall, changes later in development could mean having to redo work that's already been completed. Agile makes it easier to adjust without throwing off the entire project.</a:t>
            </a:r>
          </a:p>
          <a:p>
            <a:pPr marL="0" indent="0">
              <a:buNone/>
            </a:pPr>
            <a:endParaRPr lang="en-US" sz="1800" dirty="0"/>
          </a:p>
          <a:p>
            <a:pPr marL="0" indent="0">
              <a:buNone/>
            </a:pPr>
            <a:r>
              <a:rPr lang="en-US" sz="1700" dirty="0"/>
              <a:t>Recommendation:</a:t>
            </a:r>
          </a:p>
          <a:p>
            <a:pPr marL="0" indent="0">
              <a:buNone/>
            </a:pPr>
            <a:r>
              <a:rPr lang="en-US" sz="1800" dirty="0"/>
              <a:t>For the SNHU Travel project, I'd recommend Agile. Early in the project, we were working with suggestions from potential users rather than a clear set of requirements directly from the customer. Then, when the customer changed direction toward wellness travel, we already had requirements and features planned out. Using Agile would allow us to adjust our priorities for upcoming sprints instead of having to go back and redo a bunch of work.</a:t>
            </a:r>
          </a:p>
          <a:p>
            <a:pPr marL="0" indent="0">
              <a:buNone/>
            </a:pPr>
            <a:endParaRPr lang="en-US" sz="1800" dirty="0"/>
          </a:p>
          <a:p>
            <a:pPr marL="0" indent="0">
              <a:buNone/>
            </a:pPr>
            <a:endParaRPr lang="en-US" sz="1700" dirty="0"/>
          </a:p>
          <a:p>
            <a:pPr marL="0" indent="0" algn="r">
              <a:buNone/>
            </a:pPr>
            <a:r>
              <a:rPr lang="en-US" sz="1400" dirty="0"/>
              <a:t>(</a:t>
            </a:r>
            <a:r>
              <a:rPr lang="en-US" sz="1400" dirty="0" err="1"/>
              <a:t>Fawareh</a:t>
            </a:r>
            <a:r>
              <a:rPr lang="en-US" sz="1400" dirty="0"/>
              <a:t> et al., 2024)</a:t>
            </a:r>
            <a:endParaRPr lang="en-US" sz="1300" dirty="0"/>
          </a:p>
        </p:txBody>
      </p:sp>
      <p:sp>
        <p:nvSpPr>
          <p:cNvPr id="5" name="TextBox 4">
            <a:extLst>
              <a:ext uri="{FF2B5EF4-FFF2-40B4-BE49-F238E27FC236}">
                <a16:creationId xmlns:a16="http://schemas.microsoft.com/office/drawing/2014/main" id="{29599AB1-93C5-679B-A2A3-434044B134CF}"/>
              </a:ext>
            </a:extLst>
          </p:cNvPr>
          <p:cNvSpPr txBox="1"/>
          <p:nvPr/>
        </p:nvSpPr>
        <p:spPr>
          <a:xfrm>
            <a:off x="4040864" y="445298"/>
            <a:ext cx="8151136" cy="523220"/>
          </a:xfrm>
          <a:prstGeom prst="rect">
            <a:avLst/>
          </a:prstGeom>
          <a:noFill/>
        </p:spPr>
        <p:txBody>
          <a:bodyPr wrap="square" rtlCol="0">
            <a:spAutoFit/>
          </a:bodyPr>
          <a:lstStyle/>
          <a:p>
            <a:pPr algn="ctr"/>
            <a:r>
              <a:rPr lang="en-US" sz="1400" dirty="0"/>
              <a:t>Choosing between Agile and Waterfall depends on what kind of project we're working on, how much we know about the requirements, and whether we expect those requirements to change.</a:t>
            </a:r>
          </a:p>
        </p:txBody>
      </p:sp>
    </p:spTree>
    <p:extLst>
      <p:ext uri="{BB962C8B-B14F-4D97-AF65-F5344CB8AC3E}">
        <p14:creationId xmlns:p14="http://schemas.microsoft.com/office/powerpoint/2010/main" val="2684334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4F49E2-579B-9AC1-15DE-8B3FF726CEE5}"/>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1A3565-86EA-8199-F376-E559C831C0EE}"/>
              </a:ext>
            </a:extLst>
          </p:cNvPr>
          <p:cNvSpPr>
            <a:spLocks noGrp="1"/>
          </p:cNvSpPr>
          <p:nvPr>
            <p:ph type="title"/>
          </p:nvPr>
        </p:nvSpPr>
        <p:spPr>
          <a:xfrm>
            <a:off x="808638" y="386930"/>
            <a:ext cx="9236700" cy="1188950"/>
          </a:xfrm>
        </p:spPr>
        <p:txBody>
          <a:bodyPr anchor="b">
            <a:normAutofit/>
          </a:bodyPr>
          <a:lstStyle/>
          <a:p>
            <a:r>
              <a:rPr lang="en-US" sz="5400" dirty="0"/>
              <a:t>References</a:t>
            </a:r>
          </a:p>
        </p:txBody>
      </p:sp>
      <p:grpSp>
        <p:nvGrpSpPr>
          <p:cNvPr id="27" name="Group 26">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8" name="Rectangle 27">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EFADB3-B998-A9EB-EA80-3E2E612D7144}"/>
              </a:ext>
            </a:extLst>
          </p:cNvPr>
          <p:cNvSpPr>
            <a:spLocks noGrp="1"/>
          </p:cNvSpPr>
          <p:nvPr>
            <p:ph idx="1"/>
          </p:nvPr>
        </p:nvSpPr>
        <p:spPr>
          <a:xfrm>
            <a:off x="793660" y="2599509"/>
            <a:ext cx="10143668" cy="3435531"/>
          </a:xfrm>
        </p:spPr>
        <p:txBody>
          <a:bodyPr anchor="ctr">
            <a:normAutofit/>
          </a:bodyPr>
          <a:lstStyle/>
          <a:p>
            <a:pPr marL="457200" indent="-457200">
              <a:buNone/>
            </a:pPr>
            <a:r>
              <a:rPr lang="en-US" sz="1700" dirty="0" err="1"/>
              <a:t>Fawareh</a:t>
            </a:r>
            <a:r>
              <a:rPr lang="en-US" sz="1700" dirty="0"/>
              <a:t>, H., Al-Smadi, Y., Saadeh, R., </a:t>
            </a:r>
            <a:r>
              <a:rPr lang="en-US" sz="1700" dirty="0" err="1"/>
              <a:t>Fawareh</a:t>
            </a:r>
            <a:r>
              <a:rPr lang="en-US" sz="1700" dirty="0"/>
              <a:t>, F. A., </a:t>
            </a:r>
            <a:r>
              <a:rPr lang="en-US" sz="1700" dirty="0" err="1"/>
              <a:t>Elrashidi</a:t>
            </a:r>
            <a:r>
              <a:rPr lang="en-US" sz="1700" dirty="0"/>
              <a:t>, A., &amp; Al-</a:t>
            </a:r>
            <a:r>
              <a:rPr lang="en-US" sz="1700" dirty="0" err="1"/>
              <a:t>Shdaifat</a:t>
            </a:r>
            <a:r>
              <a:rPr lang="en-US" sz="1700" dirty="0"/>
              <a:t>, H. M. (2024). A comparative study between agile and waterfall methodologies during software development process. In </a:t>
            </a:r>
            <a:r>
              <a:rPr lang="en-US" sz="1700" i="1" dirty="0"/>
              <a:t>2024 25th International Arab Conference on Information Technology (ACIT)</a:t>
            </a:r>
            <a:r>
              <a:rPr lang="en-US" sz="1700" dirty="0"/>
              <a:t>. IEEE. </a:t>
            </a:r>
            <a:r>
              <a:rPr lang="en-US" sz="1700" dirty="0">
                <a:hlinkClick r:id="rId2"/>
              </a:rPr>
              <a:t>https://doi.org/10.1109/ACIT62805.2024.10877239</a:t>
            </a:r>
            <a:endParaRPr lang="en-US" sz="1700" dirty="0"/>
          </a:p>
          <a:p>
            <a:pPr marL="457200" indent="-457200">
              <a:buNone/>
            </a:pPr>
            <a:r>
              <a:rPr lang="en-US" sz="1700" dirty="0" err="1"/>
              <a:t>Grebić</a:t>
            </a:r>
            <a:r>
              <a:rPr lang="en-US" sz="1700" dirty="0"/>
              <a:t>, B., &amp; Stojanović, A. (2021). Application of the Scrum framework on projects in IT sector. </a:t>
            </a:r>
            <a:r>
              <a:rPr lang="en-US" sz="1700" i="1" dirty="0"/>
              <a:t>European Project Management Journal, 11(2), 37–46</a:t>
            </a:r>
            <a:r>
              <a:rPr lang="en-US" sz="1700" dirty="0"/>
              <a:t>. </a:t>
            </a:r>
            <a:r>
              <a:rPr lang="en-US" sz="1700" dirty="0">
                <a:hlinkClick r:id="rId3"/>
              </a:rPr>
              <a:t>https://doi.org/10.18485/epmj.2021.11.2.4</a:t>
            </a:r>
            <a:endParaRPr lang="en-US" sz="1700" dirty="0"/>
          </a:p>
          <a:p>
            <a:pPr marL="457200" indent="-457200">
              <a:buNone/>
            </a:pPr>
            <a:r>
              <a:rPr lang="en-US" sz="1700" dirty="0"/>
              <a:t>Krishna, V. V., &amp; Gopinath, G. (2024). Software development life cycle for web application by using traditional methodology vs agile methodology. In </a:t>
            </a:r>
            <a:r>
              <a:rPr lang="en-US" sz="1700" i="1" dirty="0"/>
              <a:t>2024 Ninth International Conference on Science Technology Engineering and Mathematics (ICONSTEM)</a:t>
            </a:r>
            <a:r>
              <a:rPr lang="en-US" sz="1700" dirty="0"/>
              <a:t>. IEEE. </a:t>
            </a:r>
            <a:r>
              <a:rPr lang="en-US" sz="1700" dirty="0">
                <a:hlinkClick r:id="rId4"/>
              </a:rPr>
              <a:t>https://doi.org/10.1109/ICONSTEM60960.2024.10568596</a:t>
            </a:r>
            <a:endParaRPr lang="en-US" sz="1700" dirty="0"/>
          </a:p>
          <a:p>
            <a:pPr marL="457200" indent="-457200">
              <a:buNone/>
            </a:pPr>
            <a:r>
              <a:rPr lang="en-US" sz="1700" dirty="0" err="1"/>
              <a:t>Saravanos</a:t>
            </a:r>
            <a:r>
              <a:rPr lang="en-US" sz="1700" dirty="0"/>
              <a:t>, A., &amp; Curinga, M. X. (2024). Simulating the software development lifecycle: The waterfall model. </a:t>
            </a:r>
            <a:r>
              <a:rPr lang="en-US" sz="1700" i="1" dirty="0"/>
              <a:t>Applied Sciences, 14(1), Article 60</a:t>
            </a:r>
            <a:r>
              <a:rPr lang="en-US" sz="1700" dirty="0"/>
              <a:t>. </a:t>
            </a:r>
            <a:r>
              <a:rPr lang="en-US" sz="1700" dirty="0">
                <a:hlinkClick r:id="rId5"/>
              </a:rPr>
              <a:t>https://doi.org/10.3390/app14010060</a:t>
            </a:r>
            <a:endParaRPr lang="en-US" sz="1700" dirty="0"/>
          </a:p>
        </p:txBody>
      </p:sp>
    </p:spTree>
    <p:extLst>
      <p:ext uri="{BB962C8B-B14F-4D97-AF65-F5344CB8AC3E}">
        <p14:creationId xmlns:p14="http://schemas.microsoft.com/office/powerpoint/2010/main" val="556610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858</Words>
  <Application>Microsoft Office PowerPoint</Application>
  <PresentationFormat>Widescreen</PresentationFormat>
  <Paragraphs>61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Cambria</vt:lpstr>
      <vt:lpstr>Office Theme</vt:lpstr>
      <vt:lpstr>Agile vs. Waterfall</vt:lpstr>
      <vt:lpstr>Scrum - Agile Roles</vt:lpstr>
      <vt:lpstr>Agile Software Development Lifecycle Phases</vt:lpstr>
      <vt:lpstr>Waterfall Model</vt:lpstr>
      <vt:lpstr>Waterfall or Agile Approach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Sheppard</dc:creator>
  <cp:lastModifiedBy>Ian Sheppard</cp:lastModifiedBy>
  <cp:revision>1</cp:revision>
  <dcterms:created xsi:type="dcterms:W3CDTF">2026-10-17T03:31:58Z</dcterms:created>
  <dcterms:modified xsi:type="dcterms:W3CDTF">2026-10-17T05:29:00Z</dcterms:modified>
</cp:coreProperties>
</file>